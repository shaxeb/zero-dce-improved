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15"/>
    <p:restoredTop sz="94737"/>
  </p:normalViewPr>
  <p:slideViewPr>
    <p:cSldViewPr snapToGrid="0">
      <p:cViewPr varScale="1">
        <p:scale>
          <a:sx n="109" d="100"/>
          <a:sy n="109" d="100"/>
        </p:scale>
        <p:origin x="9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087DF-3FAB-0F27-9A72-F9EE5871CA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D80760-31FB-44FE-A792-A8F7A7C02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9FA7F-5D00-EF9A-56C5-CF281A151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3B254-F089-D74D-B156-4E31121D3E5F}" type="datetimeFigureOut">
              <a:rPr lang="en-TW" smtClean="0"/>
              <a:t>2025/11/30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B655D-69C0-B2B4-474F-96B3CF7AC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1A540-7F48-4F23-6A59-63D3A49B0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1271-9839-574D-8E73-5DA200C416C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065485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5DEB6-7F14-CDBC-22F2-FA4E9EF89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5995B-367C-2AAE-9415-1D4156871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6B6D8-74B0-F14D-2FBE-CB55C3C1C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3B254-F089-D74D-B156-4E31121D3E5F}" type="datetimeFigureOut">
              <a:rPr lang="en-TW" smtClean="0"/>
              <a:t>2025/11/30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B3345-A1D3-42B7-0848-8923DB862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E1959-931C-48A8-7948-15F542702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1271-9839-574D-8E73-5DA200C416C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169612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C7102-277D-FEEF-FDAC-ECEAA14CC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0A7A12-619F-D99C-6F73-7370CBD72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CCDF7-F283-D158-1825-8B395FFC5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3B254-F089-D74D-B156-4E31121D3E5F}" type="datetimeFigureOut">
              <a:rPr lang="en-TW" smtClean="0"/>
              <a:t>2025/11/30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5FFB8-CB1A-4730-F3B5-84C37649F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5E2B2-879C-84A5-9467-C643C4DF7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1271-9839-574D-8E73-5DA200C416C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787020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0EB6C-1FDD-05A6-B45C-FB3805293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F3885-F5DD-3604-3143-294E92000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5036AD-F873-3755-0DA0-8C0193069C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A9D562-7DA3-C023-8C22-B6BCB18D3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3B254-F089-D74D-B156-4E31121D3E5F}" type="datetimeFigureOut">
              <a:rPr lang="en-TW" smtClean="0"/>
              <a:t>2025/11/30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5F59C7-5531-E51B-8D6F-084084483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28918D-761A-DE3B-1AF7-174A4F2B2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1271-9839-574D-8E73-5DA200C416C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973665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3F80C-4DC0-4F23-6C67-72C40B736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97A19-C2C0-E666-C280-E18384798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1330EF-EA13-0666-ACA8-D87C76629D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B7CAFD-2157-7418-EA0E-34D2D048E3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4DFCC1-564C-4930-9D21-CDB928B76B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821D16-7426-B584-C1D3-C5B76E75F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3B254-F089-D74D-B156-4E31121D3E5F}" type="datetimeFigureOut">
              <a:rPr lang="en-TW" smtClean="0"/>
              <a:t>2025/11/30</a:t>
            </a:fld>
            <a:endParaRPr lang="en-TW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30F3A4-EDCA-30FE-E981-C591462DF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A6C614-DD60-E9A8-EE37-26A6760B9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1271-9839-574D-8E73-5DA200C416C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718918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6A872-889F-8583-2FA5-E43DBD718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95465A-4FD8-6B1C-3E74-751657A27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3B254-F089-D74D-B156-4E31121D3E5F}" type="datetimeFigureOut">
              <a:rPr lang="en-TW" smtClean="0"/>
              <a:t>2025/11/30</a:t>
            </a:fld>
            <a:endParaRPr lang="en-TW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0E2C01-DE32-AC43-2FA3-1CB09F2DE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527908-22FF-DF99-E24A-74527C160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1271-9839-574D-8E73-5DA200C416C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81592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9FBC5C-FA2C-B65E-2964-5F4AF894C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3B254-F089-D74D-B156-4E31121D3E5F}" type="datetimeFigureOut">
              <a:rPr lang="en-TW" smtClean="0"/>
              <a:t>2025/11/30</a:t>
            </a:fld>
            <a:endParaRPr lang="en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8BA933-D918-D59A-F5E2-95418663B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EA6581-4FD3-AE50-C196-FA7CEB7A9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1271-9839-574D-8E73-5DA200C416C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685506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52C78-D014-7655-5FDF-298ECFAB4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571A4-19AD-7CE7-6FB5-20299756E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5ACDD8-0969-7DD2-AAEA-7C439AA9C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23496E-E020-1429-ED0F-2EF5E9D20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3B254-F089-D74D-B156-4E31121D3E5F}" type="datetimeFigureOut">
              <a:rPr lang="en-TW" smtClean="0"/>
              <a:t>2025/11/30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AF3A16-E377-5143-7375-91F1A8CF0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BCF25E-3BBC-9D7F-5B71-DF79A7A3D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1271-9839-574D-8E73-5DA200C416C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65175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A8498-5B6B-F13E-354C-BCB2610C9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D02146-DF80-000C-326E-0311E3F2B2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W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9DDA9F-1F8F-22CB-1578-A4A938FF4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C16B1C-7631-2649-8CAF-3B2BE14A6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3B254-F089-D74D-B156-4E31121D3E5F}" type="datetimeFigureOut">
              <a:rPr lang="en-TW" smtClean="0"/>
              <a:t>2025/11/30</a:t>
            </a:fld>
            <a:endParaRPr lang="en-TW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C326C6-1180-E8A5-9FF4-171D218AD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C74E1-0966-9112-EB5B-6C5CD074E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1271-9839-574D-8E73-5DA200C416C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423659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43B4-2E52-03D5-7D21-A61EE5B99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F4B3C5-1FD5-ACBF-630B-1816AFB7A3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A4362-B34A-5D02-8C05-A029B553F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3B254-F089-D74D-B156-4E31121D3E5F}" type="datetimeFigureOut">
              <a:rPr lang="en-TW" smtClean="0"/>
              <a:t>2025/11/30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05BCB-1E0D-D357-842E-E011E10D4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64BF6-D66B-5204-2BF7-17EF9F505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1271-9839-574D-8E73-5DA200C416C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805265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80F979-26E9-6E80-F7AC-392C07A25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4DE297-B304-8CA3-887D-D3C848A78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2A458-99A4-14D6-634B-79D6A0EBA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3B254-F089-D74D-B156-4E31121D3E5F}" type="datetimeFigureOut">
              <a:rPr lang="en-TW" smtClean="0"/>
              <a:t>2025/11/30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0A087-83D8-FDB4-000A-921E876BA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AE88F-4CF8-3E69-E399-F046B0796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841271-9839-574D-8E73-5DA200C416C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295267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89F059-0621-4E01-469C-DADD8CCFD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W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191B5-5F95-DDEC-A51E-27E1000FE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0A2056-1C30-546B-9419-5D00AEF509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C3B254-F089-D74D-B156-4E31121D3E5F}" type="datetimeFigureOut">
              <a:rPr lang="en-TW" smtClean="0"/>
              <a:t>2025/11/30</a:t>
            </a:fld>
            <a:endParaRPr lang="en-TW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9F2A3-6D8C-4D23-0B4B-A79C1B8D66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W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ADB1F-9059-012F-DC5F-2164069D7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841271-9839-574D-8E73-5DA200C416C3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340616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li-chongyi.github.io/Proj_Zero-DCE.html" TargetMode="External"/><Relationship Id="rId2" Type="http://schemas.openxmlformats.org/officeDocument/2006/relationships/hyperlink" Target="https://github.com/Li-Chongyi/Zero-DC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6BC2B-A4BD-6B4A-03F3-0D620B166E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Low Light Image Enhancement - Zero-DCE Improvements</a:t>
            </a:r>
            <a:endParaRPr lang="en-TW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01F01B-0359-9B29-2E30-609008C32F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Imrose Batterywala (314540010)</a:t>
            </a:r>
          </a:p>
          <a:p>
            <a:r>
              <a:rPr lang="en-US" dirty="0"/>
              <a:t>Mohammed Shahzeb (314540021)</a:t>
            </a:r>
            <a:r>
              <a:rPr lang="en-TW" dirty="0">
                <a:effectLst/>
              </a:rPr>
              <a:t> </a:t>
            </a:r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2443268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FB7EA-497A-D457-460C-CCDEBF3C8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- Problem &amp; Limitations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059FA-C1BE-4203-C178-943E48E50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b="1" dirty="0"/>
              <a:t>Problem</a:t>
            </a:r>
          </a:p>
          <a:p>
            <a:pPr lvl="1"/>
            <a:r>
              <a:rPr lang="en-US" dirty="0"/>
              <a:t>Low-light image enhancement is essential for visibility, perception, and downstream tasks.</a:t>
            </a:r>
            <a:endParaRPr lang="en-US" b="1" dirty="0"/>
          </a:p>
          <a:p>
            <a:pPr marL="0" lvl="0" indent="0">
              <a:buNone/>
            </a:pPr>
            <a:r>
              <a:rPr lang="en-US" b="1" dirty="0"/>
              <a:t>Limitations</a:t>
            </a:r>
          </a:p>
          <a:p>
            <a:endParaRPr lang="en-TW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08C99C-E633-73DE-B374-2604EE6D3C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534715"/>
              </p:ext>
            </p:extLst>
          </p:nvPr>
        </p:nvGraphicFramePr>
        <p:xfrm>
          <a:off x="1391138" y="3660140"/>
          <a:ext cx="9409724" cy="2651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04862">
                  <a:extLst>
                    <a:ext uri="{9D8B030D-6E8A-4147-A177-3AD203B41FA5}">
                      <a16:colId xmlns:a16="http://schemas.microsoft.com/office/drawing/2014/main" val="3545644027"/>
                    </a:ext>
                  </a:extLst>
                </a:gridCol>
                <a:gridCol w="4704862">
                  <a:extLst>
                    <a:ext uri="{9D8B030D-6E8A-4147-A177-3AD203B41FA5}">
                      <a16:colId xmlns:a16="http://schemas.microsoft.com/office/drawing/2014/main" val="2606365905"/>
                    </a:ext>
                  </a:extLst>
                </a:gridCol>
              </a:tblGrid>
              <a:tr h="1027137">
                <a:tc>
                  <a:txBody>
                    <a:bodyPr/>
                    <a:lstStyle/>
                    <a:p>
                      <a:pPr lvl="1" algn="l"/>
                      <a:r>
                        <a:rPr lang="en-US" b="1" dirty="0"/>
                        <a:t>Extreme Low Light</a:t>
                      </a:r>
                      <a:endParaRPr lang="en-TW" sz="2800" b="1" dirty="0"/>
                    </a:p>
                    <a:p>
                      <a:pPr marL="1200150" lvl="2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33% of pixels remain below darkness threshold (0.2)</a:t>
                      </a:r>
                      <a:endParaRPr lang="en-TW" sz="2400" dirty="0"/>
                    </a:p>
                    <a:p>
                      <a:pPr marL="1200150" lvl="2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Hard cases maintain &gt;90% dark pixel fraction</a:t>
                      </a:r>
                      <a:endParaRPr lang="en-TW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US" b="1" dirty="0"/>
                        <a:t>Uneven Illumination</a:t>
                      </a:r>
                      <a:endParaRPr lang="en-TW" sz="2800" b="1" dirty="0"/>
                    </a:p>
                    <a:p>
                      <a:pPr marL="1200150" lvl="2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Inconsistent enhancement across regions</a:t>
                      </a:r>
                      <a:endParaRPr lang="en-TW" sz="2400" dirty="0"/>
                    </a:p>
                    <a:p>
                      <a:pPr marL="1200150" lvl="2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Harsh contrast that hides fine details</a:t>
                      </a:r>
                      <a:endParaRPr lang="en-TW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151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1" algn="l"/>
                      <a:r>
                        <a:rPr lang="en-US" b="1" dirty="0"/>
                        <a:t>Overexposure</a:t>
                      </a:r>
                      <a:endParaRPr lang="en-TW" sz="2800" b="1" dirty="0"/>
                    </a:p>
                    <a:p>
                      <a:pPr marL="1257300" lvl="2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Loss of highlight details</a:t>
                      </a:r>
                      <a:endParaRPr lang="en-TW" sz="2400" dirty="0"/>
                    </a:p>
                    <a:p>
                      <a:pPr marL="1257300" lvl="2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Bright pixel fraction near zero (~2.4e-5)</a:t>
                      </a:r>
                      <a:endParaRPr lang="en-TW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US" b="1" dirty="0"/>
                        <a:t>Limited Aesthetic Improvement</a:t>
                      </a:r>
                      <a:endParaRPr lang="en-TW" sz="2800" b="1" dirty="0"/>
                    </a:p>
                    <a:p>
                      <a:pPr marL="1200150" lvl="2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NIMA score improves only marginally (+0.06)</a:t>
                      </a:r>
                      <a:endParaRPr lang="en-TW" sz="2400" dirty="0"/>
                    </a:p>
                    <a:p>
                      <a:pPr marL="1200150" lvl="2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Minimal perceptual quality gain</a:t>
                      </a:r>
                      <a:endParaRPr lang="en-TW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7643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947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944C5-B8B9-F65D-257C-1977C2E27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Proposed Methodology – Key Improvements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63F8EA7-3A68-24D1-09AE-95AC84D84A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6065317"/>
              </p:ext>
            </p:extLst>
          </p:nvPr>
        </p:nvGraphicFramePr>
        <p:xfrm>
          <a:off x="838200" y="1825625"/>
          <a:ext cx="10515600" cy="37780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9085757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177317095"/>
                    </a:ext>
                  </a:extLst>
                </a:gridCol>
              </a:tblGrid>
              <a:tr h="2135394">
                <a:tc>
                  <a:txBody>
                    <a:bodyPr/>
                    <a:lstStyle/>
                    <a:p>
                      <a:pPr lvl="0"/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Hybrid Exposure Fusion</a:t>
                      </a:r>
                      <a:endParaRPr lang="en-TW" sz="2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Mix Zero-DCE output with synthetic exposure brackets</a:t>
                      </a:r>
                      <a:endParaRPr lang="en-TW" sz="2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Lift shadows without killing highlights</a:t>
                      </a:r>
                      <a:endParaRPr lang="en-TW" sz="2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Texture-Aware Lighting Maps</a:t>
                      </a:r>
                      <a:endParaRPr lang="en-TW" sz="2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Gradient-respecting kernels</a:t>
                      </a:r>
                      <a:endParaRPr lang="en-TW" sz="2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Brighten dark regions without harsh contrast</a:t>
                      </a:r>
                      <a:endParaRPr lang="en-TW" sz="2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835429"/>
                  </a:ext>
                </a:extLst>
              </a:tr>
              <a:tr h="1642612">
                <a:tc>
                  <a:txBody>
                    <a:bodyPr/>
                    <a:lstStyle/>
                    <a:p>
                      <a:pPr lvl="0"/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Bright/Dark Balance Loss</a:t>
                      </a:r>
                      <a:endParaRPr lang="en-TW" sz="2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Dual-histogram regularization</a:t>
                      </a:r>
                      <a:endParaRPr lang="en-TW" sz="2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Boost highlights, reduce deep shadows</a:t>
                      </a:r>
                      <a:endParaRPr lang="en-TW" sz="2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Perceptual Co-training</a:t>
                      </a:r>
                      <a:endParaRPr lang="en-TW" sz="2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NIMA/NIQE-based losses</a:t>
                      </a:r>
                      <a:endParaRPr lang="en-TW" sz="2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Enhance visibility and aesthetic realism</a:t>
                      </a:r>
                      <a:endParaRPr lang="en-TW" sz="2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25248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1493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1ECC2-F319-5B53-D2FD-3E856BE3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Data and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F502E-6943-FB98-9947-E2E3399522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TW" dirty="0"/>
              <a:t>Dataset</a:t>
            </a:r>
          </a:p>
          <a:p>
            <a:pPr lvl="1"/>
            <a:r>
              <a:rPr lang="en-US" dirty="0"/>
              <a:t>DICM (69 images)</a:t>
            </a:r>
            <a:endParaRPr lang="en-TW" sz="2800" dirty="0"/>
          </a:p>
          <a:p>
            <a:pPr lvl="1"/>
            <a:r>
              <a:rPr lang="en-US" dirty="0"/>
              <a:t>LIME (10 images)</a:t>
            </a:r>
          </a:p>
          <a:p>
            <a:pPr lvl="1"/>
            <a:r>
              <a:rPr lang="en-US" dirty="0"/>
              <a:t>Additional extreme low light dataset</a:t>
            </a:r>
          </a:p>
          <a:p>
            <a:pPr marL="0" indent="0">
              <a:buNone/>
            </a:pPr>
            <a:r>
              <a:rPr lang="en-US" dirty="0"/>
              <a:t>Resources</a:t>
            </a:r>
          </a:p>
          <a:p>
            <a:pPr lvl="1"/>
            <a:r>
              <a:rPr lang="en-US" dirty="0"/>
              <a:t>GPU for model training</a:t>
            </a:r>
          </a:p>
          <a:p>
            <a:pPr lvl="1"/>
            <a:r>
              <a:rPr lang="en-US" dirty="0"/>
              <a:t>Python libraries and frameworks for implementation</a:t>
            </a:r>
            <a:endParaRPr lang="en-TW" dirty="0"/>
          </a:p>
          <a:p>
            <a:pPr lvl="1"/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2377808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4D212-DC17-3EC7-4675-53FBDA8F9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Approach - Architecture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05411CD-10DC-74A2-6D98-9751B1E7BC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82588"/>
            <a:ext cx="10515600" cy="303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975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74741-3F13-C923-2ECC-C1C445671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Training Architecture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CCDA0F3-A013-F8AC-E2EF-57F0A28195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4680" y="1825625"/>
            <a:ext cx="700264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881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33879-2530-FAA0-F183-0C6848E99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Steps Involved (I)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D2F90AC-4D75-59C6-B784-80F407C4D3E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4648874"/>
              </p:ext>
            </p:extLst>
          </p:nvPr>
        </p:nvGraphicFramePr>
        <p:xfrm>
          <a:off x="838200" y="1825625"/>
          <a:ext cx="10515600" cy="3931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20723964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5604838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Hybrid Exposure Fusion</a:t>
                      </a:r>
                    </a:p>
                    <a:p>
                      <a:endParaRPr lang="en-US" b="0" i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Generate synthetic exposure brackets (−2EV, −1EV, 0EV, +1EV, +2EV)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Apply multi-scale exposure fusion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Blend with Zero-DCE using adaptive luminance-based weights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Preserve Zero-DCE detail while restoring highlight structure</a:t>
                      </a:r>
                      <a:br>
                        <a:rPr lang="en-US" dirty="0"/>
                      </a:br>
                      <a:endParaRPr lang="en-US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="0" i="1" dirty="0"/>
                        <a:t>Benefits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Bright pixel fraction improvement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Better highlight preservation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Reduced overexposure artifacts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Texture-Aware Lighting Maps</a:t>
                      </a:r>
                    </a:p>
                    <a:p>
                      <a:endParaRPr lang="en-US" b="0" i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Compute gradient-magnitude maps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Use gradient-respecting smoothing kernels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Modify illumination-smoothness loss accordingly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b="1" dirty="0"/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b="0" i="1" dirty="0"/>
                        <a:t>Benefits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Reduced harsh contrast jumps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Better preservation of fine textures</a:t>
                      </a:r>
                    </a:p>
                    <a:p>
                      <a:endParaRPr lang="en-TW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897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2012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B8C19-7B5E-DF95-93F6-9DCFEBA46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Steps Involved (II)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7AAE28D-826F-D1E6-24D2-E99F3BB905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8404390"/>
              </p:ext>
            </p:extLst>
          </p:nvPr>
        </p:nvGraphicFramePr>
        <p:xfrm>
          <a:off x="838200" y="1825625"/>
          <a:ext cx="10515600" cy="3383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15112626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455467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Bright/Dark Balance Loss</a:t>
                      </a:r>
                    </a:p>
                    <a:p>
                      <a:endParaRPr lang="en-US" b="0" i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Compute dual histograms: dark &lt;0.2, bright &gt;0.9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Dark-pixel reduction loss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Bright-pixel promotion loss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Adaptive weighting based on image characteristics</a:t>
                      </a:r>
                    </a:p>
                    <a:p>
                      <a:br>
                        <a:rPr lang="en-US" b="0" dirty="0"/>
                      </a:br>
                      <a:r>
                        <a:rPr lang="en-US" b="0" i="1" dirty="0"/>
                        <a:t>Benefits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Dark pixel fraction reduction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Bright pixel fraction gain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Balanced global exposure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Perceptual Co-Training</a:t>
                      </a:r>
                    </a:p>
                    <a:p>
                      <a:endParaRPr lang="en-US" b="0" i="1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Add differentiable NIMA↑ (aesthetics) and NIQE↓ (naturalness) losses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Jointly optimize with existing spatial/exposure/color losses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Fine-tune pre-trained Zero-DCE</a:t>
                      </a:r>
                    </a:p>
                    <a:p>
                      <a:br>
                        <a:rPr lang="en-US" b="0" dirty="0"/>
                      </a:br>
                      <a:r>
                        <a:rPr lang="en-US" b="0" i="1" dirty="0"/>
                        <a:t>Benefits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NIMA score </a:t>
                      </a:r>
                      <a:r>
                        <a:rPr lang="en-US" b="0" dirty="0" err="1"/>
                        <a:t>improment</a:t>
                      </a:r>
                      <a:endParaRPr lang="en-US" b="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More natural-looking results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0" dirty="0"/>
                        <a:t>Stronger subjective and perceptual quality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000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7661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F75FE-78B1-01DA-83AA-6F98DDB4E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Expected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58C29-B902-00FD-185E-E348628DC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Quantitative Improvements</a:t>
            </a:r>
            <a:endParaRPr lang="en-TW" b="1" dirty="0"/>
          </a:p>
          <a:p>
            <a:r>
              <a:rPr lang="en-US" dirty="0"/>
              <a:t>Reduce Dark Pixel Fraction: 0.316 (current)</a:t>
            </a:r>
            <a:endParaRPr lang="en-TW" dirty="0"/>
          </a:p>
          <a:p>
            <a:r>
              <a:rPr lang="en-US" dirty="0"/>
              <a:t>Increase Bright Pixel Fraction: 2.4e-5 (current)</a:t>
            </a:r>
          </a:p>
          <a:p>
            <a:r>
              <a:rPr lang="en-US" dirty="0"/>
              <a:t>Improve NIMA Score: 4.06 (current)</a:t>
            </a:r>
          </a:p>
          <a:p>
            <a:r>
              <a:rPr lang="en-US" dirty="0"/>
              <a:t>Patch Contrast: Aim to maintain ~0.080 while reducing artifacts</a:t>
            </a:r>
          </a:p>
          <a:p>
            <a:endParaRPr lang="en-TW" dirty="0"/>
          </a:p>
          <a:p>
            <a:pPr marL="0" indent="0">
              <a:buNone/>
            </a:pPr>
            <a:r>
              <a:rPr lang="en-US" b="1" dirty="0"/>
              <a:t>Qualitative Improvements</a:t>
            </a:r>
            <a:endParaRPr lang="en-TW" b="1" dirty="0"/>
          </a:p>
          <a:p>
            <a:r>
              <a:rPr lang="en-US" dirty="0"/>
              <a:t>Better visibility in extremely dark regions</a:t>
            </a:r>
            <a:endParaRPr lang="en-TW" dirty="0"/>
          </a:p>
          <a:p>
            <a:r>
              <a:rPr lang="en-US" dirty="0"/>
              <a:t>More natural highlight representation</a:t>
            </a:r>
            <a:endParaRPr lang="en-TW" dirty="0"/>
          </a:p>
          <a:p>
            <a:r>
              <a:rPr lang="en-US" dirty="0"/>
              <a:t>Reduced overexposure artifacts</a:t>
            </a:r>
            <a:endParaRPr lang="en-TW" dirty="0"/>
          </a:p>
          <a:p>
            <a:r>
              <a:rPr lang="en-US" dirty="0"/>
              <a:t>Improved overall aesthetic quality</a:t>
            </a:r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1060831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A7768-B0E6-A886-C8E2-B6FC1041A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Method Exploration – Related Works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685F491-3365-FBF8-C95F-F761AD5115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5915872"/>
              </p:ext>
            </p:extLst>
          </p:nvPr>
        </p:nvGraphicFramePr>
        <p:xfrm>
          <a:off x="838200" y="1825624"/>
          <a:ext cx="10515600" cy="43993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89407546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108981828"/>
                    </a:ext>
                  </a:extLst>
                </a:gridCol>
              </a:tblGrid>
              <a:tr h="1333130">
                <a:tc>
                  <a:txBody>
                    <a:bodyPr/>
                    <a:lstStyle/>
                    <a:p>
                      <a:pPr lvl="0"/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</a:rPr>
                        <a:t>Zero-LEINR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</a:rPr>
                        <a:t> (ISCAS 2023)</a:t>
                      </a:r>
                      <a:endParaRPr lang="en-TW" sz="200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</a:rPr>
                        <a:t>Intrinsic noise reduction</a:t>
                      </a:r>
                      <a:endParaRPr lang="en-TW" sz="200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</a:rPr>
                        <a:t>Maintains zero-reference property</a:t>
                      </a:r>
                      <a:endParaRPr lang="en-TW" sz="2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</a:rPr>
                        <a:t>FourLLIE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</a:rPr>
                        <a:t> (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</a:rPr>
                        <a:t>ArXiv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</a:rPr>
                        <a:t> 2023)</a:t>
                      </a:r>
                      <a:endParaRPr lang="en-TW" sz="200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</a:rPr>
                        <a:t>Fourier frequency domain approach</a:t>
                      </a:r>
                      <a:endParaRPr lang="en-TW" sz="200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</a:rPr>
                        <a:t>Effective lightness improvement</a:t>
                      </a:r>
                      <a:endParaRPr lang="en-TW" sz="2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2159175"/>
                  </a:ext>
                </a:extLst>
              </a:tr>
              <a:tr h="1733069">
                <a:tc>
                  <a:txBody>
                    <a:bodyPr/>
                    <a:lstStyle/>
                    <a:p>
                      <a:pPr lvl="0"/>
                      <a:r>
                        <a:rPr lang="en-US" sz="1800" b="1" kern="1200" dirty="0" err="1">
                          <a:solidFill>
                            <a:schemeClr val="tx1"/>
                          </a:solidFill>
                          <a:effectLst/>
                        </a:rPr>
                        <a:t>BEENet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</a:rPr>
                        <a:t> (ICFTIC 2024)</a:t>
                      </a:r>
                      <a:endParaRPr lang="en-TW" sz="200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</a:rPr>
                        <a:t>Balanced enhancement for uneven exposure</a:t>
                      </a:r>
                      <a:endParaRPr lang="en-TW" sz="200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</a:rPr>
                        <a:t>Handles over/under-exposure simultaneously</a:t>
                      </a:r>
                      <a:endParaRPr lang="en-TW" sz="2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</a:rPr>
                        <a:t>ALEN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</a:rPr>
                        <a:t> (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</a:rPr>
                        <a:t>ArXiv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</a:rPr>
                        <a:t> 2024)</a:t>
                      </a:r>
                      <a:endParaRPr lang="en-TW" sz="200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</a:rPr>
                        <a:t>Dual approach for uniform/non-uniform lighting</a:t>
                      </a:r>
                      <a:endParaRPr lang="en-TW" sz="200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</a:rPr>
                        <a:t>Adaptive classification mechanism</a:t>
                      </a:r>
                      <a:endParaRPr lang="en-TW" sz="2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1063923"/>
                  </a:ext>
                </a:extLst>
              </a:tr>
              <a:tr h="1333130">
                <a:tc>
                  <a:txBody>
                    <a:bodyPr/>
                    <a:lstStyle/>
                    <a:p>
                      <a:pPr lvl="0"/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</a:rPr>
                        <a:t>Residual Quotient Learning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</a:rPr>
                        <a:t> (IEEE TIP 2025)</a:t>
                      </a:r>
                      <a:endParaRPr lang="en-TW" sz="200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</a:rPr>
                        <a:t>Improved feature representation</a:t>
                      </a:r>
                      <a:endParaRPr lang="en-TW" sz="200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</a:rPr>
                        <a:t>Maintains zero-reference training</a:t>
                      </a:r>
                      <a:endParaRPr lang="en-TW" sz="2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</a:rPr>
                        <a:t>Diffusion-Based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</a:rPr>
                        <a:t> (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effectLst/>
                        </a:rPr>
                        <a:t>ArXiv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</a:rPr>
                        <a:t> 2023)</a:t>
                      </a:r>
                      <a:endParaRPr lang="en-TW" sz="200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</a:rPr>
                        <a:t>State-of-the-art quality</a:t>
                      </a:r>
                      <a:endParaRPr lang="en-TW" sz="2000" kern="12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lvl="1"/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</a:rPr>
                        <a:t>Computationally expensive</a:t>
                      </a:r>
                      <a:endParaRPr lang="en-TW" sz="2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2620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3765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15C02-449B-C0D8-BC2B-78DDFBB51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Comparative Analysis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F1C8D10-862F-278B-6635-2DD879F070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1834029"/>
              </p:ext>
            </p:extLst>
          </p:nvPr>
        </p:nvGraphicFramePr>
        <p:xfrm>
          <a:off x="838199" y="1852454"/>
          <a:ext cx="10515603" cy="4297680"/>
        </p:xfrm>
        <a:graphic>
          <a:graphicData uri="http://schemas.openxmlformats.org/drawingml/2006/table">
            <a:tbl>
              <a:tblPr>
                <a:tableStyleId>{5202B0CA-FC54-4496-8BCA-5EF66A818D29}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125623266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58910925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66043357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3442032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92072919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42901622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15411624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Zero-Ref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Extreme Low-Light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Uneven Illum.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Overexposure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Efficiency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Aesthetic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218448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Zero-DCE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Low</a:t>
                      </a:r>
                      <a:endParaRPr lang="en-TW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4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4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4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High</a:t>
                      </a:r>
                      <a:endParaRPr lang="en-TW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400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340111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Zero-LEINR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Low</a:t>
                      </a:r>
                      <a:endParaRPr lang="en-TW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4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4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4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Medium</a:t>
                      </a:r>
                      <a:endParaRPr lang="en-TW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400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613922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 err="1"/>
                        <a:t>BEENet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4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4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Low</a:t>
                      </a:r>
                      <a:endParaRPr lang="en-TW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Low</a:t>
                      </a:r>
                      <a:endParaRPr lang="en-TW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Medium</a:t>
                      </a:r>
                      <a:endParaRPr lang="en-TW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Low</a:t>
                      </a:r>
                      <a:endParaRPr lang="en-TW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9942608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Residual Quotient Learning (RQL)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Low</a:t>
                      </a:r>
                      <a:endParaRPr lang="en-TW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Low</a:t>
                      </a:r>
                      <a:endParaRPr lang="en-TW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Low</a:t>
                      </a:r>
                      <a:endParaRPr lang="en-TW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4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Medium</a:t>
                      </a:r>
                      <a:endParaRPr lang="en-TW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Low</a:t>
                      </a:r>
                      <a:endParaRPr lang="en-TW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859064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 err="1"/>
                        <a:t>FourLLIE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4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Low</a:t>
                      </a:r>
                      <a:endParaRPr lang="en-TW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4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400" dirty="0"/>
                        <a:t>-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Low</a:t>
                      </a:r>
                      <a:endParaRPr lang="en-TW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Low</a:t>
                      </a:r>
                      <a:endParaRPr lang="en-TW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6594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ALEN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4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Low</a:t>
                      </a:r>
                      <a:endParaRPr lang="en-TW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Low</a:t>
                      </a:r>
                      <a:endParaRPr lang="en-TW" sz="1400" dirty="0"/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400" dirty="0"/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Medium</a:t>
                      </a:r>
                      <a:endParaRPr lang="en-TW" sz="14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Medium</a:t>
                      </a:r>
                      <a:endParaRPr lang="en-TW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591023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Diffusion-Based LLIE</a:t>
                      </a: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4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High</a:t>
                      </a:r>
                      <a:endParaRPr lang="en-TW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Medium</a:t>
                      </a:r>
                      <a:endParaRPr lang="en-TW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Medium</a:t>
                      </a:r>
                      <a:endParaRPr lang="en-TW" sz="1400" dirty="0"/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TW" sz="1400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High</a:t>
                      </a:r>
                      <a:endParaRPr lang="en-TW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6773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8518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B5CA7-8203-4F19-4672-5FE63E038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Methodologies</a:t>
            </a:r>
            <a:endParaRPr lang="en-TW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E7296E-5EDF-C22C-5053-D739F9DFEF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1021749"/>
              </p:ext>
            </p:extLst>
          </p:nvPr>
        </p:nvGraphicFramePr>
        <p:xfrm>
          <a:off x="838200" y="1825624"/>
          <a:ext cx="10515600" cy="44227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44554239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216645448"/>
                    </a:ext>
                  </a:extLst>
                </a:gridCol>
              </a:tblGrid>
              <a:tr h="1474258">
                <a:tc>
                  <a:txBody>
                    <a:bodyPr/>
                    <a:lstStyle/>
                    <a:p>
                      <a:r>
                        <a:rPr lang="en-US" b="1" dirty="0"/>
                        <a:t>Zero-LEINR (ISCAS 2023)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Unified framework: intrinsic noise reduction integrated in enhancement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Single-pass processing, maintains zero-reference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 err="1"/>
                        <a:t>FourLLIE</a:t>
                      </a:r>
                      <a:r>
                        <a:rPr lang="en-US" b="1" dirty="0"/>
                        <a:t> (</a:t>
                      </a:r>
                      <a:r>
                        <a:rPr lang="en-US" b="1" dirty="0" err="1"/>
                        <a:t>ArXiv</a:t>
                      </a:r>
                      <a:r>
                        <a:rPr lang="en-US" b="1" dirty="0"/>
                        <a:t> 2023)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Fourier frequency domain processing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Amplitude transform maps, frequency-spatial integration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1363878"/>
                  </a:ext>
                </a:extLst>
              </a:tr>
              <a:tr h="1474258">
                <a:tc>
                  <a:txBody>
                    <a:bodyPr/>
                    <a:lstStyle/>
                    <a:p>
                      <a:r>
                        <a:rPr lang="en-US" b="1" dirty="0" err="1"/>
                        <a:t>BEENet</a:t>
                      </a:r>
                      <a:r>
                        <a:rPr lang="en-US" b="1" dirty="0"/>
                        <a:t> (ICFTIC 2024)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Balanced enhancement network for uneven exposure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Simultaneous over/under-exposure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ALEN (</a:t>
                      </a:r>
                      <a:r>
                        <a:rPr lang="en-US" b="1" dirty="0" err="1"/>
                        <a:t>ArXiv</a:t>
                      </a:r>
                      <a:r>
                        <a:rPr lang="en-US" b="1" dirty="0"/>
                        <a:t> 2024)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Classification mechanism: uniform vs. non-uniform lighting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Dual approach with estimator networks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9892209"/>
                  </a:ext>
                </a:extLst>
              </a:tr>
              <a:tr h="1474258">
                <a:tc>
                  <a:txBody>
                    <a:bodyPr/>
                    <a:lstStyle/>
                    <a:p>
                      <a:r>
                        <a:rPr lang="en-US" b="1" dirty="0"/>
                        <a:t>Residual Quotient Learning (IEEE TIP 2025)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Novel residual quotient learning framework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Improved feature extraction, zero-reference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Diffusion-Based (</a:t>
                      </a:r>
                      <a:r>
                        <a:rPr lang="en-US" b="1" dirty="0" err="1"/>
                        <a:t>ArXiv</a:t>
                      </a:r>
                      <a:r>
                        <a:rPr lang="en-US" b="1" dirty="0"/>
                        <a:t> 2023)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Diffusion framework with global structure-aware regularization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High quality, computationally expensive</a:t>
                      </a:r>
                      <a:endParaRPr lang="en-TW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662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6445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2423F-9CB2-FAF7-B14B-6CB109E5D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Existing Methods vs Our Approach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2FFA64D-055B-83A2-EF7F-784891DEC9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0432989"/>
              </p:ext>
            </p:extLst>
          </p:nvPr>
        </p:nvGraphicFramePr>
        <p:xfrm>
          <a:off x="838200" y="1825626"/>
          <a:ext cx="10515600" cy="4375022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26755277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6816740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37718793"/>
                    </a:ext>
                  </a:extLst>
                </a:gridCol>
              </a:tblGrid>
              <a:tr h="2122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Method</a:t>
                      </a:r>
                      <a:endParaRPr lang="en-US" sz="1200"/>
                    </a:p>
                  </a:txBody>
                  <a:tcPr marL="53065" marR="53065" marT="26533" marB="265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Their Approach</a:t>
                      </a:r>
                      <a:endParaRPr lang="en-US" sz="1200"/>
                    </a:p>
                  </a:txBody>
                  <a:tcPr marL="53065" marR="53065" marT="26533" marB="265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Our Approach</a:t>
                      </a:r>
                      <a:endParaRPr lang="en-US" sz="1200"/>
                    </a:p>
                  </a:txBody>
                  <a:tcPr marL="53065" marR="53065" marT="26533" marB="26533" anchor="ctr"/>
                </a:tc>
                <a:extLst>
                  <a:ext uri="{0D108BD9-81ED-4DB2-BD59-A6C34878D82A}">
                    <a16:rowId xmlns:a16="http://schemas.microsoft.com/office/drawing/2014/main" val="1973136194"/>
                  </a:ext>
                </a:extLst>
              </a:tr>
              <a:tr h="689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Zero-LEINR</a:t>
                      </a:r>
                      <a:endParaRPr lang="en-US" sz="1200"/>
                    </a:p>
                  </a:txBody>
                  <a:tcPr marL="53065" marR="53065" marT="26533" marB="265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Unified noise reduction; efficient single-pass; limited handling of extreme low-light, overexposure, uneven illumination</a:t>
                      </a:r>
                    </a:p>
                  </a:txBody>
                  <a:tcPr marL="53065" marR="53065" marT="26533" marB="265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Broader failure-mode coverage; noise handled implicitly</a:t>
                      </a:r>
                    </a:p>
                  </a:txBody>
                  <a:tcPr marL="53065" marR="53065" marT="26533" marB="26533" anchor="ctr"/>
                </a:tc>
                <a:extLst>
                  <a:ext uri="{0D108BD9-81ED-4DB2-BD59-A6C34878D82A}">
                    <a16:rowId xmlns:a16="http://schemas.microsoft.com/office/drawing/2014/main" val="2047209526"/>
                  </a:ext>
                </a:extLst>
              </a:tr>
              <a:tr h="689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FourLLIE</a:t>
                      </a:r>
                      <a:endParaRPr lang="en-US" sz="1200"/>
                    </a:p>
                  </a:txBody>
                  <a:tcPr marL="53065" marR="53065" marT="26533" marB="265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Frequency-based enhancement; good detail preservation; complex FFT pipeline; weak overexposure handling</a:t>
                      </a:r>
                    </a:p>
                  </a:txBody>
                  <a:tcPr marL="53065" marR="53065" marT="26533" marB="265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Simpler curve-based design; higher efficiency</a:t>
                      </a:r>
                    </a:p>
                  </a:txBody>
                  <a:tcPr marL="53065" marR="53065" marT="26533" marB="26533" anchor="ctr"/>
                </a:tc>
                <a:extLst>
                  <a:ext uri="{0D108BD9-81ED-4DB2-BD59-A6C34878D82A}">
                    <a16:rowId xmlns:a16="http://schemas.microsoft.com/office/drawing/2014/main" val="4007549026"/>
                  </a:ext>
                </a:extLst>
              </a:tr>
              <a:tr h="689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BEENet</a:t>
                      </a:r>
                      <a:endParaRPr lang="en-US" sz="1200"/>
                    </a:p>
                  </a:txBody>
                  <a:tcPr marL="53065" marR="53065" marT="26533" marB="265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Balanced enhancement for uneven illumination; not zero-reference; weaker in extreme low-light</a:t>
                      </a:r>
                    </a:p>
                  </a:txBody>
                  <a:tcPr marL="53065" marR="53065" marT="26533" marB="265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Zero-reference while achieving exposure balance</a:t>
                      </a:r>
                    </a:p>
                  </a:txBody>
                  <a:tcPr marL="53065" marR="53065" marT="26533" marB="26533" anchor="ctr"/>
                </a:tc>
                <a:extLst>
                  <a:ext uri="{0D108BD9-81ED-4DB2-BD59-A6C34878D82A}">
                    <a16:rowId xmlns:a16="http://schemas.microsoft.com/office/drawing/2014/main" val="1388164176"/>
                  </a:ext>
                </a:extLst>
              </a:tr>
              <a:tr h="689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ALEN</a:t>
                      </a:r>
                      <a:endParaRPr lang="en-US" sz="1200"/>
                    </a:p>
                  </a:txBody>
                  <a:tcPr marL="53065" marR="53065" marT="26533" marB="265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Adaptive uniform/non-uniform lighting classification; requires extra classification network; not always zero-reference</a:t>
                      </a:r>
                    </a:p>
                  </a:txBody>
                  <a:tcPr marL="53065" marR="53065" marT="26533" marB="265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Adaptability through loss design; simpler architecture</a:t>
                      </a:r>
                    </a:p>
                  </a:txBody>
                  <a:tcPr marL="53065" marR="53065" marT="26533" marB="26533" anchor="ctr"/>
                </a:tc>
                <a:extLst>
                  <a:ext uri="{0D108BD9-81ED-4DB2-BD59-A6C34878D82A}">
                    <a16:rowId xmlns:a16="http://schemas.microsoft.com/office/drawing/2014/main" val="334417001"/>
                  </a:ext>
                </a:extLst>
              </a:tr>
              <a:tr h="689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Residual Quotient Learning</a:t>
                      </a:r>
                      <a:endParaRPr lang="en-US" sz="1200" dirty="0"/>
                    </a:p>
                  </a:txBody>
                  <a:tcPr marL="53065" marR="53065" marT="26533" marB="265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Strong feature extraction; zero-reference; complex architecture; limited discussion of failure cases</a:t>
                      </a:r>
                    </a:p>
                  </a:txBody>
                  <a:tcPr marL="53065" marR="53065" marT="26533" marB="265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Directly targets specific failure modes; complementary</a:t>
                      </a:r>
                    </a:p>
                  </a:txBody>
                  <a:tcPr marL="53065" marR="53065" marT="26533" marB="26533" anchor="ctr"/>
                </a:tc>
                <a:extLst>
                  <a:ext uri="{0D108BD9-81ED-4DB2-BD59-A6C34878D82A}">
                    <a16:rowId xmlns:a16="http://schemas.microsoft.com/office/drawing/2014/main" val="3653760387"/>
                  </a:ext>
                </a:extLst>
              </a:tr>
              <a:tr h="689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Diffusion-Based</a:t>
                      </a:r>
                      <a:endParaRPr lang="en-US" sz="1200"/>
                    </a:p>
                  </a:txBody>
                  <a:tcPr marL="53065" marR="53065" marT="26533" marB="265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High image quality and detail retention; computationally heavy; slow inference; needs training data</a:t>
                      </a:r>
                    </a:p>
                  </a:txBody>
                  <a:tcPr marL="53065" marR="53065" marT="26533" marB="265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Efficient structure-aware approach; real-time capable</a:t>
                      </a:r>
                    </a:p>
                  </a:txBody>
                  <a:tcPr marL="53065" marR="53065" marT="26533" marB="26533" anchor="ctr"/>
                </a:tc>
                <a:extLst>
                  <a:ext uri="{0D108BD9-81ED-4DB2-BD59-A6C34878D82A}">
                    <a16:rowId xmlns:a16="http://schemas.microsoft.com/office/drawing/2014/main" val="2592360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7964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DB66D-1FF4-8EBA-FCB8-92EC45CE1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References (I)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8502F-DF87-02CD-0C9D-980569215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900" dirty="0"/>
              <a:t>[1] C. Guo </a:t>
            </a:r>
            <a:r>
              <a:rPr lang="en-US" sz="2900" i="1" dirty="0"/>
              <a:t>et al.</a:t>
            </a:r>
            <a:r>
              <a:rPr lang="en-US" sz="2900" dirty="0"/>
              <a:t>, “Zero-Reference Deep Curve Estimation for Low-Light Image Enhancement,” </a:t>
            </a:r>
            <a:r>
              <a:rPr lang="en-US" sz="2900" i="1" dirty="0" err="1"/>
              <a:t>arXiv.org</a:t>
            </a:r>
            <a:r>
              <a:rPr lang="en-US" sz="2900" dirty="0"/>
              <a:t>, Mar. 22, 2020</a:t>
            </a:r>
          </a:p>
          <a:p>
            <a:pPr marL="0" indent="0">
              <a:buNone/>
            </a:pPr>
            <a:r>
              <a:rPr lang="en-US" sz="2900" dirty="0"/>
              <a:t>[2] K. Ang, W. T. Lim, Y. P. Loh and S. Ong, "Noise-aware Zero-Reference Low-light Image Enhancement for Object Detection," 2022 International Symposium on Intelligent Signal Processing and Communication Systems (ISPACS), Penang, Malaysia, 2022</a:t>
            </a:r>
          </a:p>
          <a:p>
            <a:pPr marL="0" indent="0">
              <a:buNone/>
            </a:pPr>
            <a:r>
              <a:rPr lang="en-US" sz="2900" dirty="0"/>
              <a:t>[3] W. H. Tang, H. Yuan, T. -H. Chiang and C. -C. Huang, "Zero-LEINR: Zero-Reference Low-light Image Enhancement with Intrinsic Noise Reduction," 2023 IEEE International Symposium on Circuits and Systems (ISCAS), Monterey, CA, USA, 2023</a:t>
            </a:r>
          </a:p>
          <a:p>
            <a:pPr marL="0" indent="0">
              <a:buNone/>
            </a:pPr>
            <a:r>
              <a:rPr lang="en-US" sz="2900" dirty="0"/>
              <a:t>[4] J. Zhang, Y. Zhou, E. Zhu and J. Sun, "</a:t>
            </a:r>
            <a:r>
              <a:rPr lang="en-US" sz="2900" dirty="0" err="1"/>
              <a:t>BEENet</a:t>
            </a:r>
            <a:r>
              <a:rPr lang="en-US" sz="2900" dirty="0"/>
              <a:t>: A Balanced Enhancement Network for Uneven Exposure Low-Light Image Enhancement," 2024 6th International Conference on Frontier Technologies of Information and Computer (ICFTIC), Qingdao, China, 2024</a:t>
            </a:r>
          </a:p>
          <a:p>
            <a:pPr marL="0" indent="0">
              <a:buNone/>
            </a:pPr>
            <a:r>
              <a:rPr lang="en-US" sz="2900" dirty="0"/>
              <a:t>[5] C. Xie et al., "Residual Quotient Learning for Zero-Reference Low-Light Image Enhancement," in IEEE Transactions on Image Processing, vol. 34, pp. 365-378, 2025</a:t>
            </a:r>
          </a:p>
          <a:p>
            <a:pPr marL="0" indent="0">
              <a:buNone/>
            </a:pPr>
            <a:r>
              <a:rPr lang="en-US" sz="2900" dirty="0"/>
              <a:t>[6] C. Wang, H. Wu, and Z. Jin, “</a:t>
            </a:r>
            <a:r>
              <a:rPr lang="en-US" sz="2900" dirty="0" err="1"/>
              <a:t>FourLLIE</a:t>
            </a:r>
            <a:r>
              <a:rPr lang="en-US" sz="2900" dirty="0"/>
              <a:t>: Boosting Low-Light Image Enhancement by Fourier Frequency Information,” </a:t>
            </a:r>
            <a:r>
              <a:rPr lang="en-US" sz="2900" i="1" dirty="0" err="1"/>
              <a:t>arXiv.org</a:t>
            </a:r>
            <a:r>
              <a:rPr lang="en-US" sz="2900" dirty="0"/>
              <a:t>, 2023.‌</a:t>
            </a:r>
          </a:p>
          <a:p>
            <a:pPr marL="0" indent="0">
              <a:buNone/>
            </a:pPr>
            <a:r>
              <a:rPr lang="en-US" sz="2900" dirty="0"/>
              <a:t>[7] E. Perez-Zarate, O. Ramos-Soto, C. Liu, D. Oliva, and M. Perez-Cisneros, “ALEN: a dual-approach for uniform and non-uniform low-light image enhancement,” </a:t>
            </a:r>
            <a:r>
              <a:rPr lang="en-US" sz="2900" i="1" dirty="0"/>
              <a:t>Multimedia Systems</a:t>
            </a:r>
            <a:r>
              <a:rPr lang="en-US" sz="2900" dirty="0"/>
              <a:t>, vol. 31, no. 4, May 2025</a:t>
            </a:r>
          </a:p>
          <a:p>
            <a:pPr marL="0" indent="0">
              <a:buNone/>
            </a:pPr>
            <a:r>
              <a:rPr lang="en-US" sz="2900" dirty="0"/>
              <a:t>[8] J. Hou, Z. Zhu, J. Hou, H. Liu, H. Zeng, and H. Yuan, “Global Structure-Aware Diffusion Process for Low-Light Image Enhancement,” </a:t>
            </a:r>
            <a:r>
              <a:rPr lang="en-US" sz="2900" i="1" dirty="0" err="1"/>
              <a:t>arXiv.org</a:t>
            </a:r>
            <a:r>
              <a:rPr lang="en-US" sz="2900" dirty="0"/>
              <a:t>, 2023</a:t>
            </a:r>
            <a:endParaRPr lang="en-US" sz="2900" u="sng" dirty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TW" dirty="0"/>
          </a:p>
          <a:p>
            <a:pPr marL="0" indent="0">
              <a:buNone/>
            </a:pPr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38855590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3621F-5B68-B934-14FD-633D4E673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References (II)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D7D84-09E8-2153-E051-2470C09D8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>
                <a:hlinkClick r:id="rId2" tooltip="https://github.com/Li-Chongyi/Zero-DCE"/>
              </a:rPr>
              <a:t>https://github.com/Li-Chongyi/Zero-DCE</a:t>
            </a:r>
            <a:r>
              <a:rPr lang="en-TW" dirty="0">
                <a:effectLst/>
              </a:rPr>
              <a:t> </a:t>
            </a:r>
          </a:p>
          <a:p>
            <a:r>
              <a:rPr lang="en-US" dirty="0">
                <a:hlinkClick r:id="rId3"/>
              </a:rPr>
              <a:t>https://li-chongyi.github.io/Proj_Zero-DCE</a:t>
            </a:r>
            <a:r>
              <a:rPr lang="en-US">
                <a:hlinkClick r:id="rId3"/>
              </a:rPr>
              <a:t>.html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632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1199</Words>
  <Application>Microsoft Macintosh PowerPoint</Application>
  <PresentationFormat>Widescreen</PresentationFormat>
  <Paragraphs>224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Low Light Image Enhancement - Zero-DCE Improvements</vt:lpstr>
      <vt:lpstr>Introduction - Problem &amp; Limitations</vt:lpstr>
      <vt:lpstr>Proposed Methodology – Key Improvements</vt:lpstr>
      <vt:lpstr>Data and Resources</vt:lpstr>
      <vt:lpstr>Approach - Architecture</vt:lpstr>
      <vt:lpstr>Training Architecture</vt:lpstr>
      <vt:lpstr>Steps Involved (I)</vt:lpstr>
      <vt:lpstr>Steps Involved (II)</vt:lpstr>
      <vt:lpstr>Expected Results</vt:lpstr>
      <vt:lpstr>Method Exploration – Related Works</vt:lpstr>
      <vt:lpstr>Comparative Analysis</vt:lpstr>
      <vt:lpstr>Current Methodologies</vt:lpstr>
      <vt:lpstr>Existing Methods vs Our Approach</vt:lpstr>
      <vt:lpstr>References (I)</vt:lpstr>
      <vt:lpstr>References (II)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Imrose Batterywala</dc:creator>
  <cp:lastModifiedBy>Imrose Batterywala</cp:lastModifiedBy>
  <cp:revision>3</cp:revision>
  <dcterms:created xsi:type="dcterms:W3CDTF">2025-11-30T03:19:30Z</dcterms:created>
  <dcterms:modified xsi:type="dcterms:W3CDTF">2025-11-30T06:49:32Z</dcterms:modified>
</cp:coreProperties>
</file>